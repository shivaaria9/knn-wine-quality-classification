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oppins Bold" charset="1" panose="00000800000000000000"/>
      <p:regular r:id="rId24"/>
    </p:embeddedFont>
    <p:embeddedFont>
      <p:font typeface="Poppins" charset="1" panose="00000500000000000000"/>
      <p:regular r:id="rId25"/>
    </p:embeddedFont>
    <p:embeddedFont>
      <p:font typeface="Canva Sans Bold" charset="1" panose="020B08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33952" y="-8347359"/>
            <a:ext cx="20590236" cy="2059023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62055" y="5436018"/>
            <a:ext cx="321025" cy="3210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12644" y="2808421"/>
            <a:ext cx="881574" cy="88157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40518" y="2936295"/>
            <a:ext cx="625825" cy="62582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666351" y="2586126"/>
            <a:ext cx="6960775" cy="8105305"/>
          </a:xfrm>
          <a:custGeom>
            <a:avLst/>
            <a:gdLst/>
            <a:ahLst/>
            <a:cxnLst/>
            <a:rect r="r" b="b" t="t" l="l"/>
            <a:pathLst>
              <a:path h="8105305" w="6960775">
                <a:moveTo>
                  <a:pt x="0" y="0"/>
                </a:moveTo>
                <a:lnTo>
                  <a:pt x="6960775" y="0"/>
                </a:lnTo>
                <a:lnTo>
                  <a:pt x="6960775" y="8105305"/>
                </a:lnTo>
                <a:lnTo>
                  <a:pt x="0" y="8105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677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25198" y="1451162"/>
            <a:ext cx="9913685" cy="300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71"/>
              </a:lnSpc>
            </a:pPr>
            <a:r>
              <a:rPr lang="en-US" b="true" sz="106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 NEAREST NEIGHBOUR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5198" y="4991100"/>
            <a:ext cx="8793687" cy="379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1"/>
              </a:lnSpc>
            </a:pPr>
            <a:r>
              <a:rPr lang="en-US" sz="254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Team-11</a:t>
            </a:r>
          </a:p>
          <a:p>
            <a:pPr algn="just">
              <a:lnSpc>
                <a:spcPts val="4321"/>
              </a:lnSpc>
            </a:pP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Sri Sanjai - 25MBA0092</a:t>
            </a: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Shruthika - 25MBA0006</a:t>
            </a: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Shrikha - 25MBA0049</a:t>
            </a: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Shivaranjani - 25MBA0002</a:t>
            </a: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Sonu Srinath - 25MBA0096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5198" y="4402378"/>
            <a:ext cx="3518743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Wine Quality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0621" y="764048"/>
            <a:ext cx="608679" cy="608679"/>
            <a:chOff x="0" y="0"/>
            <a:chExt cx="285198" cy="28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198" cy="285198"/>
            </a:xfrm>
            <a:custGeom>
              <a:avLst/>
              <a:gdLst/>
              <a:ahLst/>
              <a:cxnLst/>
              <a:rect r="r" b="b" t="t" l="l"/>
              <a:pathLst>
                <a:path h="285198" w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1303" y="2059328"/>
            <a:ext cx="6693463" cy="5822118"/>
            <a:chOff x="0" y="0"/>
            <a:chExt cx="8924617" cy="776282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608786" cy="7762824"/>
              <a:chOff x="0" y="0"/>
              <a:chExt cx="535516" cy="90199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35516" cy="901998"/>
              </a:xfrm>
              <a:custGeom>
                <a:avLst/>
                <a:gdLst/>
                <a:ahLst/>
                <a:cxnLst/>
                <a:rect r="r" b="b" t="t" l="l"/>
                <a:pathLst>
                  <a:path h="901998" w="535516">
                    <a:moveTo>
                      <a:pt x="51514" y="0"/>
                    </a:moveTo>
                    <a:lnTo>
                      <a:pt x="484002" y="0"/>
                    </a:lnTo>
                    <a:cubicBezTo>
                      <a:pt x="497664" y="0"/>
                      <a:pt x="510767" y="5427"/>
                      <a:pt x="520428" y="15088"/>
                    </a:cubicBezTo>
                    <a:cubicBezTo>
                      <a:pt x="530089" y="24749"/>
                      <a:pt x="535516" y="37852"/>
                      <a:pt x="535516" y="51514"/>
                    </a:cubicBezTo>
                    <a:lnTo>
                      <a:pt x="535516" y="850484"/>
                    </a:lnTo>
                    <a:cubicBezTo>
                      <a:pt x="535516" y="864146"/>
                      <a:pt x="530089" y="877249"/>
                      <a:pt x="520428" y="886910"/>
                    </a:cubicBezTo>
                    <a:cubicBezTo>
                      <a:pt x="510767" y="896571"/>
                      <a:pt x="497664" y="901998"/>
                      <a:pt x="484002" y="901998"/>
                    </a:cubicBezTo>
                    <a:lnTo>
                      <a:pt x="51514" y="901998"/>
                    </a:lnTo>
                    <a:cubicBezTo>
                      <a:pt x="37852" y="901998"/>
                      <a:pt x="24749" y="896571"/>
                      <a:pt x="15088" y="886910"/>
                    </a:cubicBezTo>
                    <a:cubicBezTo>
                      <a:pt x="5427" y="877249"/>
                      <a:pt x="0" y="864146"/>
                      <a:pt x="0" y="850484"/>
                    </a:cubicBezTo>
                    <a:lnTo>
                      <a:pt x="0" y="51514"/>
                    </a:lnTo>
                    <a:cubicBezTo>
                      <a:pt x="0" y="37852"/>
                      <a:pt x="5427" y="24749"/>
                      <a:pt x="15088" y="15088"/>
                    </a:cubicBezTo>
                    <a:cubicBezTo>
                      <a:pt x="24749" y="5427"/>
                      <a:pt x="37852" y="0"/>
                      <a:pt x="51514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4217" t="0" r="-34217" b="0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5327110" y="0"/>
              <a:ext cx="3597507" cy="7762824"/>
              <a:chOff x="0" y="0"/>
              <a:chExt cx="418011" cy="90199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18011" cy="901998"/>
              </a:xfrm>
              <a:custGeom>
                <a:avLst/>
                <a:gdLst/>
                <a:ahLst/>
                <a:cxnLst/>
                <a:rect r="r" b="b" t="t" l="l"/>
                <a:pathLst>
                  <a:path h="901998" w="418011">
                    <a:moveTo>
                      <a:pt x="65995" y="0"/>
                    </a:moveTo>
                    <a:lnTo>
                      <a:pt x="352016" y="0"/>
                    </a:lnTo>
                    <a:cubicBezTo>
                      <a:pt x="388464" y="0"/>
                      <a:pt x="418011" y="29547"/>
                      <a:pt x="418011" y="65995"/>
                    </a:cubicBezTo>
                    <a:lnTo>
                      <a:pt x="418011" y="836003"/>
                    </a:lnTo>
                    <a:cubicBezTo>
                      <a:pt x="418011" y="853506"/>
                      <a:pt x="411058" y="870292"/>
                      <a:pt x="398681" y="882669"/>
                    </a:cubicBezTo>
                    <a:cubicBezTo>
                      <a:pt x="386305" y="895045"/>
                      <a:pt x="369519" y="901998"/>
                      <a:pt x="352016" y="901998"/>
                    </a:cubicBezTo>
                    <a:lnTo>
                      <a:pt x="65995" y="901998"/>
                    </a:lnTo>
                    <a:cubicBezTo>
                      <a:pt x="29547" y="901998"/>
                      <a:pt x="0" y="872451"/>
                      <a:pt x="0" y="836003"/>
                    </a:cubicBezTo>
                    <a:lnTo>
                      <a:pt x="0" y="65995"/>
                    </a:lnTo>
                    <a:cubicBezTo>
                      <a:pt x="0" y="29547"/>
                      <a:pt x="29547" y="0"/>
                      <a:pt x="65995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21882" t="0" r="-21882" b="0"/>
                </a:stretch>
              </a:blipFill>
            </p:spPr>
          </p:sp>
        </p:grpSp>
      </p:grpSp>
      <p:grpSp>
        <p:nvGrpSpPr>
          <p:cNvPr name="Group 10" id="10"/>
          <p:cNvGrpSpPr/>
          <p:nvPr/>
        </p:nvGrpSpPr>
        <p:grpSpPr>
          <a:xfrm rot="0">
            <a:off x="13168243" y="7006291"/>
            <a:ext cx="881574" cy="88157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96118" y="7134166"/>
            <a:ext cx="625825" cy="62582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8937275"/>
            <a:ext cx="321025" cy="32102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46585" y="625923"/>
            <a:ext cx="12049533" cy="122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1"/>
              </a:lnSpc>
            </a:pPr>
            <a:r>
              <a:rPr lang="en-US" b="true" sz="8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LEARNING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65613" y="2067592"/>
            <a:ext cx="8793687" cy="21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Machine Learning is a technique that allows computers to learn from data and make decisions without explicit programming. It works by identifying patterns in data and using them to make predictions.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65613" y="4428042"/>
            <a:ext cx="8793687" cy="434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learning happens through the following steps:</a:t>
            </a:r>
          </a:p>
          <a:p>
            <a:pPr algn="just">
              <a:lnSpc>
                <a:spcPts val="4321"/>
              </a:lnSpc>
            </a:pP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Input</a:t>
            </a: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Algorithms</a:t>
            </a: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Training</a:t>
            </a: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Feedback Loop</a:t>
            </a: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Experience and Iteration</a:t>
            </a:r>
          </a:p>
          <a:p>
            <a:pPr algn="just">
              <a:lnSpc>
                <a:spcPts val="4321"/>
              </a:lnSpc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Evaluation and Generalization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0621" y="764048"/>
            <a:ext cx="608679" cy="608679"/>
            <a:chOff x="0" y="0"/>
            <a:chExt cx="285198" cy="28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198" cy="285198"/>
            </a:xfrm>
            <a:custGeom>
              <a:avLst/>
              <a:gdLst/>
              <a:ahLst/>
              <a:cxnLst/>
              <a:rect r="r" b="b" t="t" l="l"/>
              <a:pathLst>
                <a:path h="285198" w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307797"/>
            <a:ext cx="6441165" cy="577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7"/>
              </a:lnSpc>
            </a:pPr>
          </a:p>
          <a:p>
            <a:pPr algn="just">
              <a:lnSpc>
                <a:spcPts val="4177"/>
              </a:lnSpc>
            </a:pPr>
          </a:p>
          <a:p>
            <a:pPr algn="l" marL="530520" indent="-265260" lvl="1">
              <a:lnSpc>
                <a:spcPts val="4177"/>
              </a:lnSpc>
              <a:buAutoNum type="arabicPeriod" startAt="1"/>
            </a:pPr>
            <a:r>
              <a:rPr lang="en-US" sz="2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Classifies data based on similarity with nearby data points</a:t>
            </a:r>
          </a:p>
          <a:p>
            <a:pPr algn="l" marL="530520" indent="-265260" lvl="1">
              <a:lnSpc>
                <a:spcPts val="4177"/>
              </a:lnSpc>
              <a:buAutoNum type="arabicPeriod" startAt="1"/>
            </a:pPr>
            <a:r>
              <a:rPr lang="en-US" sz="2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distance metrics like to find nearest neighbors</a:t>
            </a:r>
          </a:p>
          <a:p>
            <a:pPr algn="l" marL="530520" indent="-265260" lvl="1">
              <a:lnSpc>
                <a:spcPts val="4177"/>
              </a:lnSpc>
              <a:buAutoNum type="arabicPeriod" startAt="1"/>
            </a:pPr>
            <a:r>
              <a:rPr lang="en-US" sz="2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Since KNN makes no assumptions about the underlying data distribution, it makes it a non-parametric and instance-based learning method.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64397"/>
            <a:ext cx="13921921" cy="122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1"/>
              </a:lnSpc>
            </a:pPr>
            <a:r>
              <a:rPr lang="en-US" sz="8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- KNN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989660" y="3524005"/>
            <a:ext cx="9394403" cy="6053236"/>
            <a:chOff x="0" y="0"/>
            <a:chExt cx="12525870" cy="807098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4671976"/>
              <a:ext cx="11520844" cy="3399006"/>
              <a:chOff x="0" y="0"/>
              <a:chExt cx="2781896" cy="82074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81896" cy="820746"/>
              </a:xfrm>
              <a:custGeom>
                <a:avLst/>
                <a:gdLst/>
                <a:ahLst/>
                <a:cxnLst/>
                <a:rect r="r" b="b" t="t" l="l"/>
                <a:pathLst>
                  <a:path h="820746" w="2781896">
                    <a:moveTo>
                      <a:pt x="37106" y="0"/>
                    </a:moveTo>
                    <a:lnTo>
                      <a:pt x="2744790" y="0"/>
                    </a:lnTo>
                    <a:cubicBezTo>
                      <a:pt x="2765283" y="0"/>
                      <a:pt x="2781896" y="16613"/>
                      <a:pt x="2781896" y="37106"/>
                    </a:cubicBezTo>
                    <a:lnTo>
                      <a:pt x="2781896" y="783639"/>
                    </a:lnTo>
                    <a:cubicBezTo>
                      <a:pt x="2781896" y="793481"/>
                      <a:pt x="2777987" y="802919"/>
                      <a:pt x="2771028" y="809877"/>
                    </a:cubicBezTo>
                    <a:cubicBezTo>
                      <a:pt x="2764069" y="816836"/>
                      <a:pt x="2754631" y="820746"/>
                      <a:pt x="2744790" y="820746"/>
                    </a:cubicBezTo>
                    <a:lnTo>
                      <a:pt x="37106" y="820746"/>
                    </a:lnTo>
                    <a:cubicBezTo>
                      <a:pt x="27265" y="820746"/>
                      <a:pt x="17827" y="816836"/>
                      <a:pt x="10868" y="809877"/>
                    </a:cubicBezTo>
                    <a:cubicBezTo>
                      <a:pt x="3909" y="802919"/>
                      <a:pt x="0" y="793481"/>
                      <a:pt x="0" y="783639"/>
                    </a:cubicBezTo>
                    <a:lnTo>
                      <a:pt x="0" y="37106"/>
                    </a:lnTo>
                    <a:cubicBezTo>
                      <a:pt x="0" y="27265"/>
                      <a:pt x="3909" y="17827"/>
                      <a:pt x="10868" y="10868"/>
                    </a:cubicBezTo>
                    <a:cubicBezTo>
                      <a:pt x="17827" y="3909"/>
                      <a:pt x="27265" y="0"/>
                      <a:pt x="3710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2781896" cy="877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2248605" y="0"/>
              <a:ext cx="10277265" cy="5575368"/>
              <a:chOff x="0" y="0"/>
              <a:chExt cx="1805442" cy="97944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05442" cy="979444"/>
              </a:xfrm>
              <a:custGeom>
                <a:avLst/>
                <a:gdLst/>
                <a:ahLst/>
                <a:cxnLst/>
                <a:rect r="r" b="b" t="t" l="l"/>
                <a:pathLst>
                  <a:path h="979444" w="1805442">
                    <a:moveTo>
                      <a:pt x="23101" y="0"/>
                    </a:moveTo>
                    <a:lnTo>
                      <a:pt x="1782341" y="0"/>
                    </a:lnTo>
                    <a:cubicBezTo>
                      <a:pt x="1788467" y="0"/>
                      <a:pt x="1794343" y="2434"/>
                      <a:pt x="1798676" y="6766"/>
                    </a:cubicBezTo>
                    <a:cubicBezTo>
                      <a:pt x="1803008" y="11099"/>
                      <a:pt x="1805442" y="16975"/>
                      <a:pt x="1805442" y="23101"/>
                    </a:cubicBezTo>
                    <a:lnTo>
                      <a:pt x="1805442" y="956342"/>
                    </a:lnTo>
                    <a:cubicBezTo>
                      <a:pt x="1805442" y="969101"/>
                      <a:pt x="1795099" y="979444"/>
                      <a:pt x="1782341" y="979444"/>
                    </a:cubicBezTo>
                    <a:lnTo>
                      <a:pt x="23101" y="979444"/>
                    </a:lnTo>
                    <a:cubicBezTo>
                      <a:pt x="16975" y="979444"/>
                      <a:pt x="11099" y="977010"/>
                      <a:pt x="6766" y="972677"/>
                    </a:cubicBezTo>
                    <a:cubicBezTo>
                      <a:pt x="2434" y="968345"/>
                      <a:pt x="0" y="962469"/>
                      <a:pt x="0" y="956342"/>
                    </a:cubicBezTo>
                    <a:lnTo>
                      <a:pt x="0" y="23101"/>
                    </a:lnTo>
                    <a:cubicBezTo>
                      <a:pt x="0" y="16975"/>
                      <a:pt x="2434" y="11099"/>
                      <a:pt x="6766" y="6766"/>
                    </a:cubicBezTo>
                    <a:cubicBezTo>
                      <a:pt x="11099" y="2434"/>
                      <a:pt x="16975" y="0"/>
                      <a:pt x="23101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-1843" r="0" b="-1843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884478" y="4903570"/>
              <a:ext cx="9751889" cy="2811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K‑Nearest Neighbor (KNN) is a simple and widely used machine learning technique for classification and regression tasks. It works by identifying the K closest data points to a given input and making predictions based on the majority class or average value of those neighbors.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0621" y="764048"/>
            <a:ext cx="608679" cy="608679"/>
            <a:chOff x="0" y="0"/>
            <a:chExt cx="285198" cy="28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198" cy="285198"/>
            </a:xfrm>
            <a:custGeom>
              <a:avLst/>
              <a:gdLst/>
              <a:ahLst/>
              <a:cxnLst/>
              <a:rect r="r" b="b" t="t" l="l"/>
              <a:pathLst>
                <a:path h="285198" w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0" y="1307837"/>
            <a:ext cx="7236750" cy="122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1"/>
              </a:lnSpc>
            </a:pPr>
            <a:r>
              <a:rPr lang="en-US" sz="8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KNN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06831" y="1900228"/>
            <a:ext cx="7954046" cy="5692984"/>
            <a:chOff x="0" y="0"/>
            <a:chExt cx="1707094" cy="12218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7094" cy="1221826"/>
            </a:xfrm>
            <a:custGeom>
              <a:avLst/>
              <a:gdLst/>
              <a:ahLst/>
              <a:cxnLst/>
              <a:rect r="r" b="b" t="t" l="l"/>
              <a:pathLst>
                <a:path h="1221826" w="1707094">
                  <a:moveTo>
                    <a:pt x="22387" y="0"/>
                  </a:moveTo>
                  <a:lnTo>
                    <a:pt x="1684707" y="0"/>
                  </a:lnTo>
                  <a:cubicBezTo>
                    <a:pt x="1690644" y="0"/>
                    <a:pt x="1696339" y="2359"/>
                    <a:pt x="1700537" y="6557"/>
                  </a:cubicBezTo>
                  <a:cubicBezTo>
                    <a:pt x="1704735" y="10755"/>
                    <a:pt x="1707094" y="16449"/>
                    <a:pt x="1707094" y="22387"/>
                  </a:cubicBezTo>
                  <a:lnTo>
                    <a:pt x="1707094" y="1199439"/>
                  </a:lnTo>
                  <a:cubicBezTo>
                    <a:pt x="1707094" y="1211803"/>
                    <a:pt x="1697071" y="1221826"/>
                    <a:pt x="1684707" y="1221826"/>
                  </a:cubicBezTo>
                  <a:lnTo>
                    <a:pt x="22387" y="1221826"/>
                  </a:lnTo>
                  <a:cubicBezTo>
                    <a:pt x="16449" y="1221826"/>
                    <a:pt x="10755" y="1219467"/>
                    <a:pt x="6557" y="1215269"/>
                  </a:cubicBezTo>
                  <a:cubicBezTo>
                    <a:pt x="2359" y="1211070"/>
                    <a:pt x="0" y="1205376"/>
                    <a:pt x="0" y="1199439"/>
                  </a:cubicBezTo>
                  <a:lnTo>
                    <a:pt x="0" y="22387"/>
                  </a:lnTo>
                  <a:cubicBezTo>
                    <a:pt x="0" y="16449"/>
                    <a:pt x="2359" y="10755"/>
                    <a:pt x="6557" y="6557"/>
                  </a:cubicBezTo>
                  <a:cubicBezTo>
                    <a:pt x="10755" y="2359"/>
                    <a:pt x="16449" y="0"/>
                    <a:pt x="22387" y="0"/>
                  </a:cubicBezTo>
                  <a:close/>
                </a:path>
              </a:pathLst>
            </a:custGeom>
            <a:blipFill>
              <a:blip r:embed="rId2"/>
              <a:stretch>
                <a:fillRect l="-2315" t="0" r="-2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598287" y="1772354"/>
            <a:ext cx="881574" cy="88157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726161" y="1900228"/>
            <a:ext cx="625825" cy="62582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15567" y="8284721"/>
            <a:ext cx="321025" cy="32102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0" y="2725738"/>
            <a:ext cx="6998200" cy="471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KNN assigns the category based on the majority of nearby points. The image shows how KNN predicts the category of a new data point based on its closest neighbours.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green points represent Category 1 and the red points represent Category 2.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new data point checks its closest neighbors (circled points).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Since the majority of its closest neighbors are red points (Category 2) KNN predicts the new data point belongs to Category 2.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3103" y="-467262"/>
            <a:ext cx="12034588" cy="11570782"/>
            <a:chOff x="0" y="0"/>
            <a:chExt cx="3874598" cy="3725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4598" cy="3725273"/>
            </a:xfrm>
            <a:custGeom>
              <a:avLst/>
              <a:gdLst/>
              <a:ahLst/>
              <a:cxnLst/>
              <a:rect r="r" b="b" t="t" l="l"/>
              <a:pathLst>
                <a:path h="3725273" w="3874598">
                  <a:moveTo>
                    <a:pt x="26642" y="0"/>
                  </a:moveTo>
                  <a:lnTo>
                    <a:pt x="3847956" y="0"/>
                  </a:lnTo>
                  <a:cubicBezTo>
                    <a:pt x="3862670" y="0"/>
                    <a:pt x="3874598" y="11928"/>
                    <a:pt x="3874598" y="26642"/>
                  </a:cubicBezTo>
                  <a:lnTo>
                    <a:pt x="3874598" y="3698631"/>
                  </a:lnTo>
                  <a:cubicBezTo>
                    <a:pt x="3874598" y="3713345"/>
                    <a:pt x="3862670" y="3725273"/>
                    <a:pt x="3847956" y="3725273"/>
                  </a:cubicBezTo>
                  <a:lnTo>
                    <a:pt x="26642" y="3725273"/>
                  </a:lnTo>
                  <a:cubicBezTo>
                    <a:pt x="11928" y="3725273"/>
                    <a:pt x="0" y="3713345"/>
                    <a:pt x="0" y="3698631"/>
                  </a:cubicBezTo>
                  <a:lnTo>
                    <a:pt x="0" y="26642"/>
                  </a:lnTo>
                  <a:cubicBezTo>
                    <a:pt x="0" y="11928"/>
                    <a:pt x="11928" y="0"/>
                    <a:pt x="266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4598" cy="3782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85617" y="5143500"/>
            <a:ext cx="9803466" cy="5553086"/>
            <a:chOff x="0" y="0"/>
            <a:chExt cx="1518813" cy="8603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8813" cy="860318"/>
            </a:xfrm>
            <a:custGeom>
              <a:avLst/>
              <a:gdLst/>
              <a:ahLst/>
              <a:cxnLst/>
              <a:rect r="r" b="b" t="t" l="l"/>
              <a:pathLst>
                <a:path h="860318" w="1518813">
                  <a:moveTo>
                    <a:pt x="18163" y="0"/>
                  </a:moveTo>
                  <a:lnTo>
                    <a:pt x="1500650" y="0"/>
                  </a:lnTo>
                  <a:cubicBezTo>
                    <a:pt x="1505467" y="0"/>
                    <a:pt x="1510087" y="1914"/>
                    <a:pt x="1513493" y="5320"/>
                  </a:cubicBezTo>
                  <a:cubicBezTo>
                    <a:pt x="1516900" y="8726"/>
                    <a:pt x="1518813" y="13346"/>
                    <a:pt x="1518813" y="18163"/>
                  </a:cubicBezTo>
                  <a:lnTo>
                    <a:pt x="1518813" y="842155"/>
                  </a:lnTo>
                  <a:cubicBezTo>
                    <a:pt x="1518813" y="846972"/>
                    <a:pt x="1516900" y="851592"/>
                    <a:pt x="1513493" y="854998"/>
                  </a:cubicBezTo>
                  <a:cubicBezTo>
                    <a:pt x="1510087" y="858405"/>
                    <a:pt x="1505467" y="860318"/>
                    <a:pt x="1500650" y="860318"/>
                  </a:cubicBezTo>
                  <a:lnTo>
                    <a:pt x="18163" y="860318"/>
                  </a:lnTo>
                  <a:cubicBezTo>
                    <a:pt x="13346" y="860318"/>
                    <a:pt x="8726" y="858405"/>
                    <a:pt x="5320" y="854998"/>
                  </a:cubicBezTo>
                  <a:cubicBezTo>
                    <a:pt x="1914" y="851592"/>
                    <a:pt x="0" y="846972"/>
                    <a:pt x="0" y="842155"/>
                  </a:cubicBezTo>
                  <a:lnTo>
                    <a:pt x="0" y="18163"/>
                  </a:lnTo>
                  <a:cubicBezTo>
                    <a:pt x="0" y="13346"/>
                    <a:pt x="1914" y="8726"/>
                    <a:pt x="5320" y="5320"/>
                  </a:cubicBezTo>
                  <a:cubicBezTo>
                    <a:pt x="8726" y="1914"/>
                    <a:pt x="13346" y="0"/>
                    <a:pt x="18163" y="0"/>
                  </a:cubicBezTo>
                  <a:close/>
                </a:path>
              </a:pathLst>
            </a:custGeom>
            <a:blipFill>
              <a:blip r:embed="rId2"/>
              <a:stretch>
                <a:fillRect l="-1569" t="0" r="-156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910893" y="1915057"/>
            <a:ext cx="881574" cy="88157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38767" y="2042932"/>
            <a:ext cx="625825" cy="62582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80237" y="3933479"/>
            <a:ext cx="321025" cy="32102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74154" y="1988507"/>
            <a:ext cx="6960620" cy="241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0891394" y="7683373"/>
            <a:ext cx="596824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09103" y="7826248"/>
            <a:ext cx="6667695" cy="175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6"/>
              </a:lnSpc>
            </a:pPr>
            <a:r>
              <a:rPr lang="en-US" b="true" sz="222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  <a:r>
              <a:rPr lang="en-US" b="true" sz="222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usiness Objective: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support wineries in improving quality control processes and ensuring consistent product standards using data-driven insights.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09103" y="934272"/>
            <a:ext cx="7332823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wine industry is highly competitive, where consistent product quality is essential for: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Brand reputation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satisfaction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Profitability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09103" y="3207576"/>
            <a:ext cx="7332823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Traditional quality assessment depends on hum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 experts (sommeliers), which is: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Time-consuming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Subjective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ostly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09103" y="5480876"/>
            <a:ext cx="7332823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aims to develop a predictive model using 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K-Nearest Neighbors (KNN) to: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Classify wine quality as Good or Bad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physicochemical properties of wine</a:t>
            </a:r>
          </a:p>
          <a:p>
            <a:pPr algn="just">
              <a:lnSpc>
                <a:spcPts val="34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60074" y="618616"/>
            <a:ext cx="10319980" cy="103199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3333" t="0" r="-133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93618" y="6367911"/>
            <a:ext cx="881574" cy="88157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21492" y="6495785"/>
            <a:ext cx="625825" cy="62582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57829" y="6928460"/>
            <a:ext cx="321025" cy="32102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0650" y="656716"/>
            <a:ext cx="12875810" cy="122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1"/>
              </a:lnSpc>
            </a:pPr>
            <a:r>
              <a:rPr lang="en-US" b="true" sz="8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37265" y="2398999"/>
            <a:ext cx="7927814" cy="6883938"/>
            <a:chOff x="0" y="0"/>
            <a:chExt cx="10570419" cy="917858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0"/>
              <a:ext cx="10570419" cy="150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8"/>
                </a:lnSpc>
              </a:pPr>
              <a:r>
                <a:rPr lang="en-US" sz="182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SOURCE: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Kaggle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Publicly available and widely used for Machine Learning tasks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625234"/>
              <a:ext cx="10570419" cy="2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8"/>
                </a:lnSpc>
              </a:pPr>
              <a:r>
                <a:rPr lang="en-US" sz="182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DOMAIN CONTEXT: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Industry: Food &amp; Beverage (Wine Production)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Type: Classification Problem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Goal: Predict wine quality using Chemical attributes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871734"/>
              <a:ext cx="10570419" cy="150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8"/>
                </a:lnSpc>
              </a:pPr>
              <a:r>
                <a:rPr lang="en-US" sz="182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DATASET SIZE: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Contains 1500 rows(observation)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11 input features + 1 target variable (Quality)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592218"/>
              <a:ext cx="10570419" cy="358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8"/>
                </a:lnSpc>
              </a:pPr>
              <a:r>
                <a:rPr lang="en-US" sz="182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VARIABLES (features):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Fixed acidity, Volatile acidity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Citric acid, Residual sugar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Chlorides, Alcohol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Free Sulfur dioxide, Total Sulfur dioxide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pH, Sulphates</a:t>
              </a:r>
            </a:p>
            <a:p>
              <a:pPr algn="l" marL="393474" indent="-196737" lvl="1">
                <a:lnSpc>
                  <a:spcPts val="3098"/>
                </a:lnSpc>
                <a:buFont typeface="Arial"/>
                <a:buChar char="•"/>
              </a:pPr>
              <a:r>
                <a:rPr lang="en-US" sz="182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density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0621" y="764048"/>
            <a:ext cx="608679" cy="608679"/>
            <a:chOff x="0" y="0"/>
            <a:chExt cx="285198" cy="28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198" cy="285198"/>
            </a:xfrm>
            <a:custGeom>
              <a:avLst/>
              <a:gdLst/>
              <a:ahLst/>
              <a:cxnLst/>
              <a:rect r="r" b="b" t="t" l="l"/>
              <a:pathLst>
                <a:path h="285198" w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68243" y="7006291"/>
            <a:ext cx="881574" cy="8815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96118" y="7134166"/>
            <a:ext cx="625825" cy="6258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2698" y="2621145"/>
            <a:ext cx="321025" cy="32102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54401" y="4203842"/>
            <a:ext cx="6728809" cy="3684023"/>
          </a:xfrm>
          <a:custGeom>
            <a:avLst/>
            <a:gdLst/>
            <a:ahLst/>
            <a:cxnLst/>
            <a:rect r="r" b="b" t="t" l="l"/>
            <a:pathLst>
              <a:path h="3684023" w="6728809">
                <a:moveTo>
                  <a:pt x="0" y="0"/>
                </a:moveTo>
                <a:lnTo>
                  <a:pt x="6728809" y="0"/>
                </a:lnTo>
                <a:lnTo>
                  <a:pt x="6728809" y="3684023"/>
                </a:lnTo>
                <a:lnTo>
                  <a:pt x="0" y="3684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92623"/>
            <a:ext cx="14984805" cy="12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REAL-LIFE APPLICATION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83210" y="2875494"/>
            <a:ext cx="10129957" cy="609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3"/>
              </a:lnSpc>
            </a:pP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Users represente</a:t>
            </a: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as data points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Based on watch history and preferences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Finds similar users (nearest neighbors)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Recommends content watched by similar users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Enables personalized recommendations</a:t>
            </a:r>
          </a:p>
          <a:p>
            <a:pPr algn="l">
              <a:lnSpc>
                <a:spcPts val="383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451312" y="2290484"/>
            <a:ext cx="794063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KNN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 Netflix / YouTube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0621" y="764048"/>
            <a:ext cx="608679" cy="608679"/>
            <a:chOff x="0" y="0"/>
            <a:chExt cx="285198" cy="28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198" cy="285198"/>
            </a:xfrm>
            <a:custGeom>
              <a:avLst/>
              <a:gdLst/>
              <a:ahLst/>
              <a:cxnLst/>
              <a:rect r="r" b="b" t="t" l="l"/>
              <a:pathLst>
                <a:path h="285198" w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68243" y="7006291"/>
            <a:ext cx="881574" cy="8815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96118" y="7134166"/>
            <a:ext cx="625825" cy="6258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2698" y="2621145"/>
            <a:ext cx="321025" cy="32102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33591" y="4586968"/>
            <a:ext cx="6575255" cy="3697403"/>
          </a:xfrm>
          <a:custGeom>
            <a:avLst/>
            <a:gdLst/>
            <a:ahLst/>
            <a:cxnLst/>
            <a:rect r="r" b="b" t="t" l="l"/>
            <a:pathLst>
              <a:path h="3697403" w="6575255">
                <a:moveTo>
                  <a:pt x="0" y="0"/>
                </a:moveTo>
                <a:lnTo>
                  <a:pt x="6575255" y="0"/>
                </a:lnTo>
                <a:lnTo>
                  <a:pt x="6575255" y="3697403"/>
                </a:lnTo>
                <a:lnTo>
                  <a:pt x="0" y="3697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91" r="-67912" b="-33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92623"/>
            <a:ext cx="14984805" cy="12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REAL-LIFE APPLICATION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83210" y="2542119"/>
            <a:ext cx="8861346" cy="765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3"/>
              </a:lnSpc>
            </a:pP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</a:t>
            </a: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stomers represente</a:t>
            </a: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as data points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Based on purchase &amp; browsing history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Identifies similar customers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Recommends products bought by others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ncreases sales and user engagement</a:t>
            </a:r>
          </a:p>
          <a:p>
            <a:pPr algn="l">
              <a:lnSpc>
                <a:spcPts val="8013"/>
              </a:lnSpc>
            </a:pPr>
          </a:p>
          <a:p>
            <a:pPr algn="l">
              <a:lnSpc>
                <a:spcPts val="383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535361" y="2450997"/>
            <a:ext cx="96844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KNN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 E-commerce (Amazon)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0621" y="764048"/>
            <a:ext cx="608679" cy="608679"/>
            <a:chOff x="0" y="0"/>
            <a:chExt cx="285198" cy="28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198" cy="285198"/>
            </a:xfrm>
            <a:custGeom>
              <a:avLst/>
              <a:gdLst/>
              <a:ahLst/>
              <a:cxnLst/>
              <a:rect r="r" b="b" t="t" l="l"/>
              <a:pathLst>
                <a:path h="285198" w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68243" y="7006291"/>
            <a:ext cx="881574" cy="8815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96118" y="7134166"/>
            <a:ext cx="625825" cy="6258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2698" y="2621145"/>
            <a:ext cx="321025" cy="32102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721776" y="2621145"/>
            <a:ext cx="8825282" cy="5879844"/>
          </a:xfrm>
          <a:custGeom>
            <a:avLst/>
            <a:gdLst/>
            <a:ahLst/>
            <a:cxnLst/>
            <a:rect r="r" b="b" t="t" l="l"/>
            <a:pathLst>
              <a:path h="5879844" w="8825282">
                <a:moveTo>
                  <a:pt x="0" y="0"/>
                </a:moveTo>
                <a:lnTo>
                  <a:pt x="8825282" y="0"/>
                </a:lnTo>
                <a:lnTo>
                  <a:pt x="8825282" y="5879844"/>
                </a:lnTo>
                <a:lnTo>
                  <a:pt x="0" y="587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92623"/>
            <a:ext cx="14984805" cy="12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REAL-LIFE APPLICATION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29628" y="2542119"/>
            <a:ext cx="9325333" cy="866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3"/>
              </a:lnSpc>
            </a:pP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Convert</a:t>
            </a: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face into numerical features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Stores known faces</a:t>
            </a: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as data points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</a:t>
            </a: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ares new face with stored data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Finds closest match using KNN</a:t>
            </a:r>
          </a:p>
          <a:p>
            <a:pPr algn="l" marL="697644" indent="-348822" lvl="1">
              <a:lnSpc>
                <a:spcPts val="8013"/>
              </a:lnSpc>
              <a:buFont typeface="Arial"/>
              <a:buChar char="•"/>
            </a:pPr>
            <a:r>
              <a:rPr lang="en-US" b="true" sz="323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Used in phone unlock and security systems</a:t>
            </a:r>
          </a:p>
          <a:p>
            <a:pPr algn="l">
              <a:lnSpc>
                <a:spcPts val="8013"/>
              </a:lnSpc>
            </a:pPr>
          </a:p>
          <a:p>
            <a:pPr algn="l">
              <a:lnSpc>
                <a:spcPts val="8013"/>
              </a:lnSpc>
            </a:pPr>
          </a:p>
          <a:p>
            <a:pPr algn="l">
              <a:lnSpc>
                <a:spcPts val="383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425770" y="2450997"/>
            <a:ext cx="79036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KNN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 Face Recognition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34954" y="1372727"/>
            <a:ext cx="321025" cy="32102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87341" y="585036"/>
            <a:ext cx="10147475" cy="107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b="true" sz="72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WORKFLOW OF KNN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56036" y="-156660"/>
            <a:ext cx="8248674" cy="7172359"/>
            <a:chOff x="0" y="0"/>
            <a:chExt cx="1388057" cy="12069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8057" cy="1206939"/>
            </a:xfrm>
            <a:custGeom>
              <a:avLst/>
              <a:gdLst/>
              <a:ahLst/>
              <a:cxnLst/>
              <a:rect r="r" b="b" t="t" l="l"/>
              <a:pathLst>
                <a:path h="1206939" w="1388057">
                  <a:moveTo>
                    <a:pt x="21587" y="0"/>
                  </a:moveTo>
                  <a:lnTo>
                    <a:pt x="1366470" y="0"/>
                  </a:lnTo>
                  <a:cubicBezTo>
                    <a:pt x="1378392" y="0"/>
                    <a:pt x="1388057" y="9665"/>
                    <a:pt x="1388057" y="21587"/>
                  </a:cubicBezTo>
                  <a:lnTo>
                    <a:pt x="1388057" y="1185352"/>
                  </a:lnTo>
                  <a:cubicBezTo>
                    <a:pt x="1388057" y="1191077"/>
                    <a:pt x="1385783" y="1196568"/>
                    <a:pt x="1381735" y="1200616"/>
                  </a:cubicBezTo>
                  <a:cubicBezTo>
                    <a:pt x="1377686" y="1204664"/>
                    <a:pt x="1372196" y="1206939"/>
                    <a:pt x="1366470" y="1206939"/>
                  </a:cubicBezTo>
                  <a:lnTo>
                    <a:pt x="21587" y="1206939"/>
                  </a:lnTo>
                  <a:cubicBezTo>
                    <a:pt x="9665" y="1206939"/>
                    <a:pt x="0" y="1197274"/>
                    <a:pt x="0" y="1185352"/>
                  </a:cubicBezTo>
                  <a:lnTo>
                    <a:pt x="0" y="21587"/>
                  </a:lnTo>
                  <a:cubicBezTo>
                    <a:pt x="0" y="9665"/>
                    <a:pt x="9665" y="0"/>
                    <a:pt x="2158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90" r="0" b="-89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68556" y="7663380"/>
            <a:ext cx="881574" cy="88157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96431" y="7791254"/>
            <a:ext cx="625825" cy="62582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945387" y="4534824"/>
            <a:ext cx="8313913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Calculating distance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a new data point, calculate the distance from all existing data points.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 method: </a:t>
            </a: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Euclidean Distance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45387" y="5969924"/>
            <a:ext cx="8313913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 Nearest Neighbors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Sort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all distances in ascending order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 the K closest data points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45387" y="7405023"/>
            <a:ext cx="8313913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Majority Voting (Classification)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ount the classes of the K neighbors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ign the class with the highest frequency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process is called Majority Voting</a:t>
            </a:r>
          </a:p>
          <a:p>
            <a:pPr algn="l">
              <a:lnSpc>
                <a:spcPts val="34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945387" y="1813849"/>
            <a:ext cx="8313913" cy="256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Selecting the optimal value of K (using Cross-Validation)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= Number of nearest neighbors used for prediction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Large K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Simpler model, may miss patterns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Small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Sensitive to noise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outliers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Noisy data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Use larger K for stable predictions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 controls the balance between overfitting and underfitting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5774" y="7776498"/>
            <a:ext cx="7846864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Cross Validation: 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technique used to evaluate a model by splitting the data into multiple parts and testing it on different subsets.  It ensures the model performs well on unseen data and is not dependent on a single train-test split.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7278" y="2134201"/>
            <a:ext cx="881574" cy="881574"/>
            <a:chOff x="0" y="0"/>
            <a:chExt cx="1175432" cy="11754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75432" cy="1175432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gradFill>
                  <a:gsLst>
                    <a:gs pos="0">
                      <a:srgbClr val="240E3D">
                        <a:alpha val="100000"/>
                      </a:srgbClr>
                    </a:gs>
                    <a:gs pos="100000">
                      <a:srgbClr val="690088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500" y="170500"/>
              <a:ext cx="834433" cy="83443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105427" y="7203916"/>
            <a:ext cx="321025" cy="32102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8975" y="323404"/>
            <a:ext cx="17440500" cy="234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b="true" sz="8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WINE QUALITY CLASSIFICATION</a:t>
            </a:r>
          </a:p>
          <a:p>
            <a:pPr algn="ctr">
              <a:lnSpc>
                <a:spcPts val="8881"/>
              </a:lnSpc>
            </a:pPr>
            <a:r>
              <a:rPr lang="en-US" b="true" sz="8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USING PYTHON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80844" y="3054513"/>
            <a:ext cx="8526551" cy="672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2"/>
              </a:lnSpc>
            </a:pPr>
            <a:r>
              <a:rPr lang="en-US" sz="272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Basic Library used in code:</a:t>
            </a:r>
          </a:p>
          <a:p>
            <a:pPr algn="ctr">
              <a:lnSpc>
                <a:spcPts val="5392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Pandas </a:t>
            </a:r>
          </a:p>
          <a:p>
            <a:pPr algn="ctr">
              <a:lnSpc>
                <a:spcPts val="5392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NumPy </a:t>
            </a:r>
          </a:p>
          <a:p>
            <a:pPr algn="ctr">
              <a:lnSpc>
                <a:spcPts val="5392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seaborn </a:t>
            </a:r>
          </a:p>
          <a:p>
            <a:pPr algn="ctr">
              <a:lnSpc>
                <a:spcPts val="5392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matplotlib </a:t>
            </a:r>
          </a:p>
          <a:p>
            <a:pPr algn="ctr">
              <a:lnSpc>
                <a:spcPts val="5392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Scikit-learn (sklearn) </a:t>
            </a:r>
          </a:p>
          <a:p>
            <a:pPr algn="ctr">
              <a:lnSpc>
                <a:spcPts val="5392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GridSearchCV</a:t>
            </a:r>
          </a:p>
          <a:p>
            <a:pPr algn="ctr">
              <a:lnSpc>
                <a:spcPts val="5392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StandardScaler</a:t>
            </a:r>
          </a:p>
          <a:p>
            <a:pPr algn="ctr">
              <a:lnSpc>
                <a:spcPts val="5392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cross_val_score</a:t>
            </a:r>
          </a:p>
          <a:p>
            <a:pPr algn="ctr">
              <a:lnSpc>
                <a:spcPts val="5392"/>
              </a:lnSpc>
            </a:pPr>
            <a:r>
              <a:rPr lang="en-US" sz="27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LabelEncoder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7278" y="2134201"/>
            <a:ext cx="881574" cy="8815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65152" y="2262075"/>
            <a:ext cx="625825" cy="6258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05427" y="7203916"/>
            <a:ext cx="321025" cy="3210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96962" y="1675130"/>
            <a:ext cx="8941131" cy="3378620"/>
          </a:xfrm>
          <a:custGeom>
            <a:avLst/>
            <a:gdLst/>
            <a:ahLst/>
            <a:cxnLst/>
            <a:rect r="r" b="b" t="t" l="l"/>
            <a:pathLst>
              <a:path h="3378620" w="8941131">
                <a:moveTo>
                  <a:pt x="0" y="0"/>
                </a:moveTo>
                <a:lnTo>
                  <a:pt x="8941131" y="0"/>
                </a:lnTo>
                <a:lnTo>
                  <a:pt x="8941131" y="3378620"/>
                </a:lnTo>
                <a:lnTo>
                  <a:pt x="0" y="3378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8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59179" y="5351142"/>
            <a:ext cx="10320706" cy="4347597"/>
          </a:xfrm>
          <a:custGeom>
            <a:avLst/>
            <a:gdLst/>
            <a:ahLst/>
            <a:cxnLst/>
            <a:rect r="r" b="b" t="t" l="l"/>
            <a:pathLst>
              <a:path h="4347597" w="10320706">
                <a:moveTo>
                  <a:pt x="0" y="0"/>
                </a:moveTo>
                <a:lnTo>
                  <a:pt x="10320706" y="0"/>
                </a:lnTo>
                <a:lnTo>
                  <a:pt x="10320706" y="4347598"/>
                </a:lnTo>
                <a:lnTo>
                  <a:pt x="0" y="434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5747" y="156971"/>
            <a:ext cx="15876505" cy="122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b="true" sz="8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26452" y="3327458"/>
            <a:ext cx="3172214" cy="49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Target Distribution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3597" y="7073539"/>
            <a:ext cx="4070509" cy="49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Finding the Best K value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534190" y="1380501"/>
            <a:ext cx="881574" cy="881574"/>
            <a:chOff x="0" y="0"/>
            <a:chExt cx="1175432" cy="117543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175432" cy="1175432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gradFill>
                  <a:gsLst>
                    <a:gs pos="0">
                      <a:srgbClr val="240E3D">
                        <a:alpha val="100000"/>
                      </a:srgbClr>
                    </a:gs>
                    <a:gs pos="100000">
                      <a:srgbClr val="690088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70500" y="170500"/>
              <a:ext cx="834433" cy="834433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570685" y="6361849"/>
            <a:ext cx="625825" cy="62582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7278" y="2134201"/>
            <a:ext cx="881574" cy="8815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65152" y="2262075"/>
            <a:ext cx="625825" cy="6258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05427" y="7203916"/>
            <a:ext cx="321025" cy="3210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113117" y="1877581"/>
            <a:ext cx="8171106" cy="3850633"/>
          </a:xfrm>
          <a:custGeom>
            <a:avLst/>
            <a:gdLst/>
            <a:ahLst/>
            <a:cxnLst/>
            <a:rect r="r" b="b" t="t" l="l"/>
            <a:pathLst>
              <a:path h="3850633" w="8171106">
                <a:moveTo>
                  <a:pt x="0" y="0"/>
                </a:moveTo>
                <a:lnTo>
                  <a:pt x="8171105" y="0"/>
                </a:lnTo>
                <a:lnTo>
                  <a:pt x="8171105" y="3850633"/>
                </a:lnTo>
                <a:lnTo>
                  <a:pt x="0" y="3850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6983" y="6027875"/>
            <a:ext cx="9648444" cy="3714651"/>
          </a:xfrm>
          <a:custGeom>
            <a:avLst/>
            <a:gdLst/>
            <a:ahLst/>
            <a:cxnLst/>
            <a:rect r="r" b="b" t="t" l="l"/>
            <a:pathLst>
              <a:path h="3714651" w="9648444">
                <a:moveTo>
                  <a:pt x="0" y="0"/>
                </a:moveTo>
                <a:lnTo>
                  <a:pt x="9648444" y="0"/>
                </a:lnTo>
                <a:lnTo>
                  <a:pt x="9648444" y="3714651"/>
                </a:lnTo>
                <a:lnTo>
                  <a:pt x="0" y="3714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5747" y="156971"/>
            <a:ext cx="15876505" cy="122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b="true" sz="8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64484" y="3306844"/>
            <a:ext cx="3732150" cy="49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Classsification Report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84118" y="7278704"/>
            <a:ext cx="2879856" cy="49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Confusion Matrix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7278" y="2134201"/>
            <a:ext cx="881574" cy="8815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65152" y="2262075"/>
            <a:ext cx="625825" cy="6258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05427" y="7203916"/>
            <a:ext cx="321025" cy="3210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73593" y="1605527"/>
            <a:ext cx="11301259" cy="3630529"/>
          </a:xfrm>
          <a:custGeom>
            <a:avLst/>
            <a:gdLst/>
            <a:ahLst/>
            <a:cxnLst/>
            <a:rect r="r" b="b" t="t" l="l"/>
            <a:pathLst>
              <a:path h="3630529" w="11301259">
                <a:moveTo>
                  <a:pt x="0" y="0"/>
                </a:moveTo>
                <a:lnTo>
                  <a:pt x="11301259" y="0"/>
                </a:lnTo>
                <a:lnTo>
                  <a:pt x="11301259" y="3630529"/>
                </a:lnTo>
                <a:lnTo>
                  <a:pt x="0" y="36305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85428" y="5521796"/>
            <a:ext cx="8596825" cy="4416619"/>
          </a:xfrm>
          <a:custGeom>
            <a:avLst/>
            <a:gdLst/>
            <a:ahLst/>
            <a:cxnLst/>
            <a:rect r="r" b="b" t="t" l="l"/>
            <a:pathLst>
              <a:path h="4416619" w="8596825">
                <a:moveTo>
                  <a:pt x="0" y="0"/>
                </a:moveTo>
                <a:lnTo>
                  <a:pt x="8596825" y="0"/>
                </a:lnTo>
                <a:lnTo>
                  <a:pt x="8596825" y="4416618"/>
                </a:lnTo>
                <a:lnTo>
                  <a:pt x="0" y="4416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5747" y="156971"/>
            <a:ext cx="15876505" cy="122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b="true" sz="8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33373" y="3335066"/>
            <a:ext cx="3385045" cy="49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Performance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199" y="7439216"/>
            <a:ext cx="7097111" cy="49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Identification of best chemical properties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534190" y="1380501"/>
            <a:ext cx="881574" cy="881574"/>
            <a:chOff x="0" y="0"/>
            <a:chExt cx="1175432" cy="117543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175432" cy="1175432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gradFill>
                  <a:gsLst>
                    <a:gs pos="0">
                      <a:srgbClr val="240E3D">
                        <a:alpha val="100000"/>
                      </a:srgbClr>
                    </a:gs>
                    <a:gs pos="100000">
                      <a:srgbClr val="690088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70500" y="170500"/>
              <a:ext cx="834433" cy="834433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570685" y="6361849"/>
            <a:ext cx="625825" cy="62582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7278" y="2134201"/>
            <a:ext cx="881574" cy="8815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65152" y="2262075"/>
            <a:ext cx="625825" cy="6258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05427" y="7203916"/>
            <a:ext cx="321025" cy="3210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101824" y="1720247"/>
            <a:ext cx="10084351" cy="7538053"/>
          </a:xfrm>
          <a:custGeom>
            <a:avLst/>
            <a:gdLst/>
            <a:ahLst/>
            <a:cxnLst/>
            <a:rect r="r" b="b" t="t" l="l"/>
            <a:pathLst>
              <a:path h="7538053" w="10084351">
                <a:moveTo>
                  <a:pt x="0" y="0"/>
                </a:moveTo>
                <a:lnTo>
                  <a:pt x="10084352" y="0"/>
                </a:lnTo>
                <a:lnTo>
                  <a:pt x="10084352" y="7538053"/>
                </a:lnTo>
                <a:lnTo>
                  <a:pt x="0" y="7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5747" y="156971"/>
            <a:ext cx="15876505" cy="122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b="true" sz="8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534190" y="1380501"/>
            <a:ext cx="881574" cy="881574"/>
            <a:chOff x="0" y="0"/>
            <a:chExt cx="1175432" cy="11754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75432" cy="1175432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gradFill>
                  <a:gsLst>
                    <a:gs pos="0">
                      <a:srgbClr val="240E3D">
                        <a:alpha val="100000"/>
                      </a:srgbClr>
                    </a:gs>
                    <a:gs pos="100000">
                      <a:srgbClr val="690088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70500" y="170500"/>
              <a:ext cx="834433" cy="834433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570685" y="6361849"/>
            <a:ext cx="625825" cy="62582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0621" y="764048"/>
            <a:ext cx="608679" cy="608679"/>
            <a:chOff x="0" y="0"/>
            <a:chExt cx="285198" cy="28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198" cy="285198"/>
            </a:xfrm>
            <a:custGeom>
              <a:avLst/>
              <a:gdLst/>
              <a:ahLst/>
              <a:cxnLst/>
              <a:rect r="r" b="b" t="t" l="l"/>
              <a:pathLst>
                <a:path h="285198" w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42657" y="8376726"/>
            <a:ext cx="881574" cy="8815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70531" y="8504601"/>
            <a:ext cx="625825" cy="6258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83444" y="2234311"/>
            <a:ext cx="321025" cy="32102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72903" y="754872"/>
            <a:ext cx="13349370" cy="12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b="true" sz="8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3765" y="2194798"/>
            <a:ext cx="16731683" cy="712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246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Quality Control</a:t>
            </a:r>
          </a:p>
          <a:p>
            <a:pPr algn="l">
              <a:lnSpc>
                <a:spcPts val="4701"/>
              </a:lnSpc>
            </a:pP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→ </a:t>
            </a: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KNN model (~</a:t>
            </a: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75% accuracy) can be used to predict wine quality before sale, reducing manual testing.</a:t>
            </a:r>
          </a:p>
          <a:p>
            <a:pPr algn="l">
              <a:lnSpc>
                <a:spcPts val="4701"/>
              </a:lnSpc>
            </a:pPr>
            <a:r>
              <a:rPr lang="en-US" sz="246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Quality Drivers Identified</a:t>
            </a:r>
          </a:p>
          <a:p>
            <a:pPr algn="l">
              <a:lnSpc>
                <a:spcPts val="4701"/>
              </a:lnSpc>
            </a:pP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→ </a:t>
            </a: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Higher alcohol, sulphates, and balanced acidity improve quality, while high volatile acidity and sulfur reduce it.</a:t>
            </a:r>
          </a:p>
          <a:p>
            <a:pPr algn="l">
              <a:lnSpc>
                <a:spcPts val="4701"/>
              </a:lnSpc>
            </a:pPr>
            <a:r>
              <a:rPr lang="en-US" sz="246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Production Optimization</a:t>
            </a:r>
          </a:p>
          <a:p>
            <a:pPr algn="l">
              <a:lnSpc>
                <a:spcPts val="4701"/>
              </a:lnSpc>
            </a:pP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Insights help in adjusting chemical composition during fermentation to consistently produce better-quality wine.</a:t>
            </a:r>
          </a:p>
          <a:p>
            <a:pPr algn="l">
              <a:lnSpc>
                <a:spcPts val="4701"/>
              </a:lnSpc>
            </a:pPr>
            <a:r>
              <a:rPr lang="en-US" sz="246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Cost &amp; Waste Reduction</a:t>
            </a:r>
          </a:p>
          <a:p>
            <a:pPr algn="l">
              <a:lnSpc>
                <a:spcPts val="4701"/>
              </a:lnSpc>
            </a:pP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→ </a:t>
            </a: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 detection of low-quality wine helps avoid packaging, storage, and market losses.</a:t>
            </a:r>
          </a:p>
          <a:p>
            <a:pPr algn="l">
              <a:lnSpc>
                <a:spcPts val="4701"/>
              </a:lnSpc>
            </a:pPr>
            <a:r>
              <a:rPr lang="en-US" sz="246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Better Pricing &amp; Market Strategy</a:t>
            </a:r>
          </a:p>
          <a:p>
            <a:pPr algn="l">
              <a:lnSpc>
                <a:spcPts val="4701"/>
              </a:lnSpc>
            </a:pPr>
            <a:r>
              <a:rPr lang="en-US" sz="246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Enables segmentation into premium and low-tier products, improving revenue and brand positioning.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0621" y="764048"/>
            <a:ext cx="608679" cy="608679"/>
            <a:chOff x="0" y="0"/>
            <a:chExt cx="285198" cy="28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198" cy="285198"/>
            </a:xfrm>
            <a:custGeom>
              <a:avLst/>
              <a:gdLst/>
              <a:ahLst/>
              <a:cxnLst/>
              <a:rect r="r" b="b" t="t" l="l"/>
              <a:pathLst>
                <a:path h="285198" w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42657" y="8376726"/>
            <a:ext cx="881574" cy="8815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70531" y="8504601"/>
            <a:ext cx="625825" cy="6258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83444" y="2234311"/>
            <a:ext cx="321025" cy="32102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727004" y="1582508"/>
            <a:ext cx="3245960" cy="6422690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61579" t="0" r="-6157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72903" y="754872"/>
            <a:ext cx="10353549" cy="12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ACTIONS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2903" y="2798185"/>
            <a:ext cx="9667256" cy="617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55"/>
              </a:lnSpc>
            </a:pPr>
            <a:r>
              <a:rPr lang="en-US" sz="36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Strategies for Model Improvement</a:t>
            </a:r>
          </a:p>
          <a:p>
            <a:pPr algn="just">
              <a:lnSpc>
                <a:spcPts val="6155"/>
              </a:lnSpc>
            </a:pPr>
          </a:p>
          <a:p>
            <a:pPr algn="just">
              <a:lnSpc>
                <a:spcPts val="6155"/>
              </a:lnSpc>
            </a:pPr>
          </a:p>
          <a:p>
            <a:pPr algn="just" marL="781691" indent="-390846" lvl="1">
              <a:lnSpc>
                <a:spcPts val="6155"/>
              </a:lnSpc>
              <a:buFont typeface="Arial"/>
              <a:buChar char="•"/>
            </a:pPr>
            <a:r>
              <a:rPr lang="en-US" sz="36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Scaling (Crucial Step)</a:t>
            </a:r>
          </a:p>
          <a:p>
            <a:pPr algn="just" marL="781691" indent="-390846" lvl="1">
              <a:lnSpc>
                <a:spcPts val="6155"/>
              </a:lnSpc>
              <a:buFont typeface="Arial"/>
              <a:buChar char="•"/>
            </a:pPr>
            <a:r>
              <a:rPr lang="en-US" sz="36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Dimensionality Reduction</a:t>
            </a:r>
          </a:p>
          <a:p>
            <a:pPr algn="just" marL="781691" indent="-390846" lvl="1">
              <a:lnSpc>
                <a:spcPts val="6155"/>
              </a:lnSpc>
              <a:buFont typeface="Arial"/>
              <a:buChar char="•"/>
            </a:pPr>
            <a:r>
              <a:rPr lang="en-US" sz="36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Adding multi-class classification</a:t>
            </a:r>
          </a:p>
          <a:p>
            <a:pPr algn="just" marL="781691" indent="-390846" lvl="1">
              <a:lnSpc>
                <a:spcPts val="6155"/>
              </a:lnSpc>
              <a:buFont typeface="Arial"/>
              <a:buChar char="•"/>
            </a:pPr>
            <a:r>
              <a:rPr lang="en-US" sz="36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Integration of multiple wine dataset </a:t>
            </a:r>
          </a:p>
          <a:p>
            <a:pPr algn="just">
              <a:lnSpc>
                <a:spcPts val="6155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45599" y="1547761"/>
            <a:ext cx="20590236" cy="2059023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9645599" y="4004114"/>
            <a:ext cx="10483567" cy="8229600"/>
          </a:xfrm>
          <a:custGeom>
            <a:avLst/>
            <a:gdLst/>
            <a:ahLst/>
            <a:cxnLst/>
            <a:rect r="r" b="b" t="t" l="l"/>
            <a:pathLst>
              <a:path h="8229600" w="10483567">
                <a:moveTo>
                  <a:pt x="10483566" y="0"/>
                </a:moveTo>
                <a:lnTo>
                  <a:pt x="0" y="0"/>
                </a:lnTo>
                <a:lnTo>
                  <a:pt x="0" y="8229600"/>
                </a:lnTo>
                <a:lnTo>
                  <a:pt x="10483566" y="8229600"/>
                </a:lnTo>
                <a:lnTo>
                  <a:pt x="1048356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15551" y="5142272"/>
            <a:ext cx="366947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0F0E0E"/>
                </a:solidFill>
                <a:latin typeface="Poppins"/>
                <a:ea typeface="Poppins"/>
                <a:cs typeface="Poppins"/>
                <a:sym typeface="Poppins"/>
              </a:rPr>
              <a:t>Presented By: Olivia Wilson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4219" y="4800357"/>
            <a:ext cx="8391380" cy="157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71"/>
              </a:lnSpc>
            </a:pPr>
            <a:r>
              <a:rPr lang="en-US" b="true" sz="106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393569" y="7797889"/>
            <a:ext cx="321025" cy="3210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96188" y="2529803"/>
            <a:ext cx="881574" cy="88157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24062" y="2657677"/>
            <a:ext cx="625825" cy="62582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DAHE3vyxHGY</dc:identifier>
  <dcterms:modified xsi:type="dcterms:W3CDTF">2011-08-01T06:04:30Z</dcterms:modified>
  <cp:revision>1</cp:revision>
  <dc:title>BA Presentation-KNN</dc:title>
</cp:coreProperties>
</file>